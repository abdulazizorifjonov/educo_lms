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F12D3A"/>
                </a:solidFill>
              </a:defRPr>
            </a:pPr>
            <a:r>
              <a:t>EDUCO.LMS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O‘quv Markazini Boshqarish Tizimi</a:t>
            </a:r>
          </a:p>
          <a:p>
            <a:pPr>
              <a:spcAft>
                <a:spcPts val="2400"/>
              </a:spcAft>
              <a:defRPr sz="2000">
                <a:solidFill>
                  <a:srgbClr val="BFDBFE"/>
                </a:solidFill>
              </a:defRPr>
            </a:pPr>
            <a:r>
              <a:t>To‘liq Foydalanish Qo‘llanmasi va Tizim Taqdimoti</a:t>
            </a:r>
          </a:p>
          <a:p>
            <a:pPr>
              <a:defRPr sz="1300" b="1">
                <a:solidFill>
                  <a:srgbClr val="E2E8F0"/>
                </a:solidFill>
              </a:defRPr>
            </a:pPr>
            <a:r>
              <a:t>Boshliq (Owner)  |  Administrator  |  O‘qituvchi  |  Talaba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Toshkent — 2026  •  Rasmiy Yo‘riqnoma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EDUCO LMS QO'LLANMASI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D78"/>
                </a:solidFill>
              </a:defRPr>
            </a:pPr>
            <a:r>
              <a:t>1. EDUCO LMS Tizimi Haqida Umumiy Ma'lumot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97280" cy="36576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AVTOMATLASHTIRISH</a:t>
            </a:r>
          </a:p>
          <a:p>
            <a:pPr>
              <a:spcAft>
                <a:spcPts val="800"/>
              </a:spcAft>
              <a:defRPr sz="1400" b="1">
                <a:solidFill>
                  <a:srgbClr val="123D78"/>
                </a:solidFill>
              </a:defRPr>
            </a:pPr>
            <a:r>
              <a:t>Yagona Boshqaruv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O‘quv markazining barcha jarayonlarini 100% bitta tizimga jamlaydi.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Talabalar va o‘qituvchilar hisobi qulay jadval ko‘rinishida olib boriladi.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Qog‘ozbozlik va chalkashliklarga to‘liq chek qo‘yadi.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Barcha ma'lumotlar real vaqt rejimida saqlanadi va yangilanadi.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8B5CF6"/>
                </a:solidFill>
              </a:defRPr>
            </a:pPr>
            <a:r>
              <a:t>XAVFSIZLIK</a:t>
            </a:r>
          </a:p>
          <a:p>
            <a:pPr>
              <a:spcAft>
                <a:spcPts val="800"/>
              </a:spcAft>
              <a:defRPr sz="1400" b="1">
                <a:solidFill>
                  <a:srgbClr val="123D78"/>
                </a:solidFill>
              </a:defRPr>
            </a:pPr>
            <a:r>
              <a:t>Xavfsiz Rollar Tizimi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4 xil darajadagi foydalanuvchi roli (Boshliq, Admin, Ustoz, Talaba).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Har bir rol faqat o‘ziga tegishli ma'lumotlarni ko‘ra oladi.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Oylik maoshlar va maxfiy audit faqat Boshliq (Owner)ga ko‘rinadi.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Parollarni markazlashgan boshqarish va xavfsiz tiklash.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8308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QULAYLIK</a:t>
            </a:r>
          </a:p>
          <a:p>
            <a:pPr>
              <a:spcAft>
                <a:spcPts val="800"/>
              </a:spcAft>
              <a:defRPr sz="1400" b="1">
                <a:solidFill>
                  <a:srgbClr val="123D78"/>
                </a:solidFill>
              </a:defRPr>
            </a:pPr>
            <a:r>
              <a:t>Zamonaviy Interfeys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Telefon va kompyuter ekranlariga 100% moslashuvchan (Responsive).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4 ta til qo‘llab-quvvatlanadi: O‘zbek, Rus, Ingliz, Arab.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Kunduzgi va Tungi (Dark Mode) zamonaviy dizayn rejimlari.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Telegram uslubidagi video va audio xabarlar almashinuvi.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69280"/>
            <a:ext cx="10607040" cy="64008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23D78"/>
                </a:solidFill>
              </a:defRPr>
            </a:pPr>
            <a:r>
              <a:t>💡 Asosiy maqsad: Markaz ma'muriyati, o‘qituvchilar va o‘quvchilar o‘rtasidagi masofani qisqartirish va sifatni oshirish.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EDUCO LMS QO'LLANMASI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D78"/>
                </a:solidFill>
              </a:defRPr>
            </a:pPr>
            <a:r>
              <a:t>2. Tizimga Kirish (Login) Qoidalari va Format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97280" cy="36576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AVTOMATIK FORMAT</a:t>
            </a:r>
          </a:p>
          <a:p>
            <a:pPr>
              <a:spcAft>
                <a:spcPts val="800"/>
              </a:spcAft>
              <a:defRPr sz="1400" b="1">
                <a:solidFill>
                  <a:srgbClr val="123D78"/>
                </a:solidFill>
              </a:defRPr>
            </a:pPr>
            <a:r>
              <a:t>Telefon Raqam Bilan Kirish (+998)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Kirish maydonida '+998 ' prefiksi avtomatik ravishda yozilgan bo‘ladi.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Raqamlar yozilishi bilan avtomatik bo‘shliqlar (probel) qo‘yiladi: masalan, +998 90 123 45 67.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Foydalanuvchi xohlagan formatda yozsa ham (probel bilan yoki probelsiz), tizim uni to‘g‘ri taniydi.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Ota-ona telefon raqami orqali ham o‘quvchi kabinetiga kirish imkoni mavjud.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Login qilishda qat'iy tekshiruv va avtomatik xavfsizlik filtri ishlaydi.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ROLGA YO‘NALTIRISH</a:t>
            </a:r>
          </a:p>
          <a:p>
            <a:pPr>
              <a:spcAft>
                <a:spcPts val="800"/>
              </a:spcAft>
              <a:defRPr sz="1400" b="1">
                <a:solidFill>
                  <a:srgbClr val="123D78"/>
                </a:solidFill>
              </a:defRPr>
            </a:pPr>
            <a:r>
              <a:t>Login va Parol Tekshiruvi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Username yoki Email orqali ham to‘g‘ridan-to‘g‘ri kirish mumkin (masalan, 'owner', 'admin').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Parol ko‘rinishi uchun ko‘zcha (Eye icon) tugmasidan foydalanish mumkin.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Kirish tugmasi bosilishi bilan tizim foydalanuvchining ROLINI aniqlaydi.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Foydalanuvchi avtomatik ravishda O‘Z DASHBOARDIGA yo‘naltiriladi: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   • Boshliq -&gt; /owner/dashboard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   • Administrator -&gt; /admin/dashboard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   • O‘qituvchi -&gt; /teacher/dashboard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   • Talaba -&gt; /student/dashboard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EDUCO LMS QO'LLANMASI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D78"/>
                </a:solidFill>
              </a:defRPr>
            </a:pPr>
            <a:r>
              <a:t>3. Rollar Ierarxiyasi va Ularning Vakolatlari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97280" cy="36576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F12D3A"/>
                </a:solidFill>
              </a:defRPr>
            </a:pPr>
            <a:r>
              <a:t>MAKSIMAL HUQUQ</a:t>
            </a:r>
          </a:p>
          <a:p>
            <a:pPr>
              <a:spcAft>
                <a:spcPts val="800"/>
              </a:spcAft>
              <a:defRPr sz="1400" b="1">
                <a:solidFill>
                  <a:srgbClr val="123D78"/>
                </a:solidFill>
              </a:defRPr>
            </a:pPr>
            <a:r>
              <a:t>Boshliq (Owner)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Tizimning to‘liq egasi.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Faqat 1 ta bo‘ladi.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Admin, O‘qituvchi, Talaba yaratish.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Oylik maoshlar (Payroll).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Xavfsizlik auditi (Audit log).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Barcha moliya va hisobotlar.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Markaz sozlamalarini o‘zgartirish.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64592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8308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8B5CF6"/>
                </a:solidFill>
              </a:defRPr>
            </a:pPr>
            <a:r>
              <a:t>BOSHQARUVCHI</a:t>
            </a:r>
          </a:p>
          <a:p>
            <a:pPr>
              <a:spcAft>
                <a:spcPts val="800"/>
              </a:spcAft>
              <a:defRPr sz="1400" b="1">
                <a:solidFill>
                  <a:srgbClr val="123D78"/>
                </a:solidFill>
              </a:defRPr>
            </a:pPr>
            <a:r>
              <a:t>Administrator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Markaz boshqaruvchisi.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O‘qituvchi va talaba yaratish.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Guruhlar va kurslar ochish.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Talabalarni guruhga qabul qilish.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To‘lovlarni (Tuition) qayd etish.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Dars jadvallarini tuzish.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Davomat hisobotlarini ko‘rish.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64592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78308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TA'LIM JARAYONI</a:t>
            </a:r>
          </a:p>
          <a:p>
            <a:pPr>
              <a:spcAft>
                <a:spcPts val="800"/>
              </a:spcAft>
              <a:defRPr sz="1400" b="1">
                <a:solidFill>
                  <a:srgbClr val="123D78"/>
                </a:solidFill>
              </a:defRPr>
            </a:pPr>
            <a:r>
              <a:t>O‘qituvchi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Faqat o‘z guruhlarini ko‘radi.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Har darsda davomat olish.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1 dan 5 gacha baholash.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Mavzu va izoh qoldirish.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Uyga vazifa yaratish va tekshirish.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O‘quv materiallari yuklash.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Guruh chati orqali muloqot.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64592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78308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O‘QUVCHI</a:t>
            </a:r>
          </a:p>
          <a:p>
            <a:pPr>
              <a:spcAft>
                <a:spcPts val="800"/>
              </a:spcAft>
              <a:defRPr sz="1400" b="1">
                <a:solidFill>
                  <a:srgbClr val="123D78"/>
                </a:solidFill>
              </a:defRPr>
            </a:pPr>
            <a:r>
              <a:t>Talaba / O‘quvchi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O‘zining dars jadvalini ko‘rish.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Olingan baholar tarixi.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Davomat statistikasi (foizda).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Uyga vazifalarni yuklab olish.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Yechilgan vazifani topshirish.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Guruh chatida qatnashish.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To‘lov holatini kuzatish.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EDUCO LMS QO'LLANMASI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D78"/>
                </a:solidFill>
              </a:defRPr>
            </a:pPr>
            <a:r>
              <a:t>4. Yangi Akkaunt va Rol Yaratish Qadam-baqadam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97280" cy="36576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2179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5852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AMALIY QO‘LLANMA</a:t>
            </a:r>
          </a:p>
          <a:p>
            <a:pPr>
              <a:spcAft>
                <a:spcPts val="800"/>
              </a:spcAft>
              <a:defRPr sz="1400" b="1">
                <a:solidFill>
                  <a:srgbClr val="123D78"/>
                </a:solidFill>
              </a:defRPr>
            </a:pPr>
            <a:r>
              <a:t>Akkaunt Yaratishning 5 Ta Aniq Qadami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1-QADAM: Boshliq yoki Admin panelida chap menyudan 'Foydalanuvchilar' (Users) bo‘limiga o‘ting.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2-QADAM: Sahifaning yuqori o‘ng burchagidagi ko‘k rangli '+ Foydalanuvchi yaratish' tugmasini bosing.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3-QADAM: Oynada Ism, Familiya va Telefon raqamini kiriting (+998 prefiksi tayyor turadi).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4-QADAM: Rolni tanlang — Administrator (faqat Owner ocha oladi), O‘qituvchi yoki Talaba.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5-QADAM: Kamida 6 ta belgidan iborat Parol kiriting (masalan, 'bobur2026' yoki 'educo123').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NATIJA: 'Saqlash' tugmasi bosilishi bilan akkaunt yaratiladi va o‘sha zahotiyoq login qila oladi!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645920"/>
            <a:ext cx="4206240" cy="45720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783080"/>
            <a:ext cx="3840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F59E0B"/>
                </a:solidFill>
              </a:defRPr>
            </a:pPr>
            <a:r>
              <a:t>ESLATMA</a:t>
            </a:r>
          </a:p>
          <a:p>
            <a:pPr>
              <a:spcAft>
                <a:spcPts val="800"/>
              </a:spcAft>
              <a:defRPr sz="1400" b="1">
                <a:solidFill>
                  <a:srgbClr val="123D78"/>
                </a:solidFill>
              </a:defRPr>
            </a:pPr>
            <a:r>
              <a:t>Muhim Qoidalar &amp; Tavsiyalar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⚡ Parol talabi: Kamida 6 ta belgi bo‘lishi kifoya. Murakkab belgilar majburiy emas.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⚡ Telefon raqam: Har bir foydalanuvchining telefon raqami login vazifasini ham bajaradi.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⚡ Talaba ochilayotganda: Otasi yoki onasining telefon raqami kiritilsa, ota-ona ham tizimga kira oladi.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⚡ Guruhga biriktirish: Talabani yaratish paytidayoq mavjud faol guruhga avtomatik qo‘shish mumkin.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⚡ Boshliq (Owner): Tizimda faqat bitta bo‘ladi, uni qayta yaratib bo‘lmaydi.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EDUCO LMS QO'LLANMASI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D78"/>
                </a:solidFill>
              </a:defRPr>
            </a:pPr>
            <a:r>
              <a:t>5. 'Parollar' Bo‘limi va Ularni Boshqarish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97280" cy="36576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NAZORAT</a:t>
            </a:r>
          </a:p>
          <a:p>
            <a:pPr>
              <a:spcAft>
                <a:spcPts val="800"/>
              </a:spcAft>
              <a:defRPr sz="1400" b="1">
                <a:solidFill>
                  <a:srgbClr val="123D78"/>
                </a:solidFill>
              </a:defRPr>
            </a:pPr>
            <a:r>
              <a:t>Parollarni Ko‘rish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Boshliq va Admin menyusidagi 'Parollar' sahifasida barcha foydalanuvchilar ro‘yxati turadi.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Har bir xodim va o‘quvchining amaldagi paroli xavfsiz holda ko‘rsatiladi.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Ko‘zcha tugmasini bosib barcha parollarni bittada ochish yoki yashirish mumkin.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TEZKORLIK</a:t>
            </a:r>
          </a:p>
          <a:p>
            <a:pPr>
              <a:spcAft>
                <a:spcPts val="800"/>
              </a:spcAft>
              <a:defRPr sz="1400" b="1">
                <a:solidFill>
                  <a:srgbClr val="123D78"/>
                </a:solidFill>
              </a:defRPr>
            </a:pPr>
            <a:r>
              <a:t>Bir Bosishda Nusxalash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Har bir qatorda 'Nusxa olish' (Copy) tugmasi mavjud.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Tugmani bosishingiz bilan login va parol xotiraga olinadi.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O‘qituvchi yoki o‘quvchiga Telegram orqali bitta tugma bilan tayyor ma'lumotni jo‘natish juda qulay.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8B5CF6"/>
                </a:solidFill>
              </a:defRPr>
            </a:pPr>
            <a:r>
              <a:t>PAROL TIKLASH</a:t>
            </a:r>
          </a:p>
          <a:p>
            <a:pPr>
              <a:spcAft>
                <a:spcPts val="800"/>
              </a:spcAft>
              <a:defRPr sz="1400" b="1">
                <a:solidFill>
                  <a:srgbClr val="123D78"/>
                </a:solidFill>
              </a:defRPr>
            </a:pPr>
            <a:r>
              <a:t>Yangi Parol O‘rnatish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Agar o‘quvchi yoki xodim parolini unutib qo‘ysa, 'Tahrirlash' tugmasini bosing.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Yangi parolni yozing (kamida 6 ta belgi) va 'Saqlash' tugmasini bosing.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Parol darhol yangilanadi va foydalanuvchi yangi parol bilan kabinetga kiradi.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EDUCO LMS QO'LLANMASI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D78"/>
                </a:solidFill>
              </a:defRPr>
            </a:pPr>
            <a:r>
              <a:t>6. Kurslar va Guruhlarni Shakllantirish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97280" cy="36576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TA'LIM DASTURLARI</a:t>
            </a:r>
          </a:p>
          <a:p>
            <a:pPr>
              <a:spcAft>
                <a:spcPts val="800"/>
              </a:spcAft>
              <a:defRPr sz="1400" b="1">
                <a:solidFill>
                  <a:srgbClr val="123D78"/>
                </a:solidFill>
              </a:defRPr>
            </a:pPr>
            <a:r>
              <a:t>Kurslar (Courses)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Markazdagi barcha ta'lim yo‘nalishlari: Frontend, Python, IELTS, Arab tili, Grafik dizayn va h.k.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Har bir kurs uchun oylik to‘lov narxi (Monthly fee) va yo‘nalish kodi belgilanadi.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Kursga tegishli faol guruhlar soni va umumiy o‘quvchilar soni avtomatik hisoblab boriladi.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Eski yoki tugatilgan kurslarni arxivlash imkoniyati.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SINFLAR BOSHQARUVI</a:t>
            </a:r>
          </a:p>
          <a:p>
            <a:pPr>
              <a:spcAft>
                <a:spcPts val="800"/>
              </a:spcAft>
              <a:defRPr sz="1400" b="1">
                <a:solidFill>
                  <a:srgbClr val="123D78"/>
                </a:solidFill>
              </a:defRPr>
            </a:pPr>
            <a:r>
              <a:t>Guruhlar (Groups)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Guruh nomi, kodi, biriktirilgan kurs va o‘qituvchi tanlanadi.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Dars xonasi (Room) va talabalar maksimal sig‘imi (Capacity) belgilanadi.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Talabalarni guruhga qo‘shish (Enrollment) birgina tugma orqali bajariladi.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Talabani boshqa guruhga ko‘chirish (Transfer) tarixi to‘liq saqlanib qolinadi.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Guruhning boshlanish va tugash sanalari bo‘yicha hisobot.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EDUCO LMS QO'LLANMASI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D78"/>
                </a:solidFill>
              </a:defRPr>
            </a:pPr>
            <a:r>
              <a:t>7. Interaktiv Dars Jadvali va Kunlik Davomat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97280" cy="36576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8B5CF6"/>
                </a:solidFill>
              </a:defRPr>
            </a:pPr>
            <a:r>
              <a:t>TIMETABLE</a:t>
            </a:r>
          </a:p>
          <a:p>
            <a:pPr>
              <a:spcAft>
                <a:spcPts val="800"/>
              </a:spcAft>
              <a:defRPr sz="1400" b="1">
                <a:solidFill>
                  <a:srgbClr val="123D78"/>
                </a:solidFill>
              </a:defRPr>
            </a:pPr>
            <a:r>
              <a:t>Haftalik Dars Jadvali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Dushanbadan Yakshanbagacha barcha darslar ko‘rgazmali jadvalda ko‘rinadi.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Har bir guruh o‘zining maxsus rangida ajralib turadi.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Xona to‘qnashuvini aniqlash: Agar bir xonaga bir vaqtda 2 ta dars qo‘yilsa, tizim ogohlantiradi.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O‘qituvchi to‘qnashuvini aniqlash: O‘qituvchining bir vaqtda ikki joyda darsi bo‘lishi oldi olinadi.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ATTENDANCE</a:t>
            </a:r>
          </a:p>
          <a:p>
            <a:pPr>
              <a:spcAft>
                <a:spcPts val="800"/>
              </a:spcAft>
              <a:defRPr sz="1400" b="1">
                <a:solidFill>
                  <a:srgbClr val="123D78"/>
                </a:solidFill>
              </a:defRPr>
            </a:pPr>
            <a:r>
              <a:t>Tezkor Davomat Tizimi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O‘qituvchi guruhni tanlaydi va o‘quvchilar ro‘yxati chiqadi.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4 xil status bir marta bosishda belgilanadi: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   🟢 Hozir (Present) — darsda qatnashmoqda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   🟡 Kech qoldi (Late) — darsga kechikib keldi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   🔵 Sababli (Excused) — uzrli sabab bilan yo‘q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   🔴 Sababsiz (Unexcused) — sababsiz dars qoldirdi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Sababli qoldirilgan darslar uchun izoh yozish maydoni mavjud.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Davomat oylik maosh va sertifikat berish foizlariga ta'sir qiladi.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EDUCO LMS QO'LLANMASI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D78"/>
                </a:solidFill>
              </a:defRPr>
            </a:pPr>
            <a:r>
              <a:t>8. 5-Ballik Baholash va Uyga Vazifalar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97280" cy="36576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BAHOLASH TIZIMI</a:t>
            </a:r>
          </a:p>
          <a:p>
            <a:pPr>
              <a:spcAft>
                <a:spcPts val="800"/>
              </a:spcAft>
              <a:defRPr sz="1400" b="1">
                <a:solidFill>
                  <a:srgbClr val="123D78"/>
                </a:solidFill>
              </a:defRPr>
            </a:pPr>
            <a:r>
              <a:t>5 Ballik Standart Baholash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Har bir talabaga mavzu bo‘yicha 1 dan 5 gacha baho qo‘yiladi: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   5 — A'lo (Yashil belgi)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   4 — Yaxshi (Ko‘k belgi)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   3 — Qoniqarli (Sariq belgi)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   2 — Qoniqarsiz (To‘q sariq belgi)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   1 — Yomon (Qizil belgi)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O‘qituvchi har bir baho uchun o‘quvchiga yo‘naltiruvchi fikr (Feedback) yozishi mumkin.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Talaba o‘z kabinetida barcha baholari dinamikasini ko‘rib boradi.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VAZIFALAR NAZORATI</a:t>
            </a:r>
          </a:p>
          <a:p>
            <a:pPr>
              <a:spcAft>
                <a:spcPts val="800"/>
              </a:spcAft>
              <a:defRPr sz="1400" b="1">
                <a:solidFill>
                  <a:srgbClr val="123D78"/>
                </a:solidFill>
              </a:defRPr>
            </a:pPr>
            <a:r>
              <a:t>Uyga Vazifalar (Homework)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O‘qituvchi vazifa mavzusi, batafsil tavsif va topshirish muddatini (Deadline) belgilaydi.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Vazifaga qo‘shimcha kitob, rasm yoki hujjat fayllarini biriktirish mumkin.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O‘quvchilar o‘z kabinetidan yechilgan vazifani yuborishadi.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O‘qituvchi topshirilgan ishlarni tekshiradi, qabul qiladi yoki qayta topshirishga qaytaradi.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Kechikkan va topshirilmagan vazifalar statistikasi shakllanadi.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EDUCO LMS QO'LLANMASI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D78"/>
                </a:solidFill>
              </a:defRPr>
            </a:pPr>
            <a:r>
              <a:t>9. Guruh Chati, Video va Audio Xabarlar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97280" cy="36576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INTERAKTIV CHAT</a:t>
            </a:r>
          </a:p>
          <a:p>
            <a:pPr>
              <a:spcAft>
                <a:spcPts val="800"/>
              </a:spcAft>
              <a:defRPr sz="1400" b="1">
                <a:solidFill>
                  <a:srgbClr val="123D78"/>
                </a:solidFill>
              </a:defRPr>
            </a:pPr>
            <a:r>
              <a:t>Guruh Muloqoti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Telegram uslubidagi qulay guruh chati.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Har bir guruh uchun alohida umumiy dars xonasi muloqoti.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Xodimlar uchun (Owner, Admin, Ustozlar) maxsus ichki aloqa chati.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Xabarga javob qaytarish (Reply) va o‘chirish imkoniyati.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F12D3A"/>
                </a:solidFill>
              </a:defRPr>
            </a:pPr>
            <a:r>
              <a:t>VIDEO RECORDER</a:t>
            </a:r>
          </a:p>
          <a:p>
            <a:pPr>
              <a:spcAft>
                <a:spcPts val="800"/>
              </a:spcAft>
              <a:defRPr sz="1400" b="1">
                <a:solidFill>
                  <a:srgbClr val="123D78"/>
                </a:solidFill>
              </a:defRPr>
            </a:pPr>
            <a:r>
              <a:t>To‘rtburchak Video Xabar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Maksimal 60 soniyali qisqa video xabar yozish.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To‘g‘ri to‘rtburchak (Rectangular) zamonaviy format.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Kamerani oldi va orqaga o‘girish (Front / Back camera switch) tugmasi.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Videoni oldindan ko‘rish va qayta yozish imkoniyati.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Telefonda ham, kompyuterda ham qotmasdan ishlaydi.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MULTIMEDIA</a:t>
            </a:r>
          </a:p>
          <a:p>
            <a:pPr>
              <a:spcAft>
                <a:spcPts val="800"/>
              </a:spcAft>
              <a:defRPr sz="1400" b="1">
                <a:solidFill>
                  <a:srgbClr val="123D78"/>
                </a:solidFill>
              </a:defRPr>
            </a:pPr>
            <a:r>
              <a:t>Ovozli Xabar va Fayllar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Ovozli xabar (Voice message) yozish va bir zumda yuborish.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Rasm, PDF va o‘quv qo‘llanmalarini yuklash.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Emojilar klaviaturasi orqali jonli muloqot.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Yangi xabarlar haqida real vaqtda ovozli va vizual bildirishnomalar.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EDUCO LMS QO'LLANMASI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D78"/>
                </a:solidFill>
              </a:defRPr>
            </a:pPr>
            <a:r>
              <a:t>10. Moliya: Oylik Maoshlar (Payroll) va To‘lovlar (Tuition)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97280" cy="36576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8B5CF6"/>
                </a:solidFill>
              </a:defRPr>
            </a:pPr>
            <a:r>
              <a:t>XODIMLAR MAOSHI</a:t>
            </a:r>
          </a:p>
          <a:p>
            <a:pPr>
              <a:spcAft>
                <a:spcPts val="800"/>
              </a:spcAft>
              <a:defRPr sz="1400" b="1">
                <a:solidFill>
                  <a:srgbClr val="123D78"/>
                </a:solidFill>
              </a:defRPr>
            </a:pPr>
            <a:r>
              <a:t>Oylik Maoshlar (Faqat Boshliq uchun)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Xodimlar maoshi 3 xil usulda avtomatik hisoblanadi: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   1. Fiks oylik (Fixed Monthly) — har oy belgilangan oylik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   2. Soatbay (Hourly) — ishlangan soatlarga qarab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   3. Darsbay (Per Lesson) — o‘tilgan darslar soniga qarab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Oylik davrlarini ochish (masalan, Oktyabr 2026) va yakunlash.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Bonus va jarimalarni hisobga olgan holda aniq to‘lov ro‘yxati.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Barcha to‘lovlarni Excel (CSV) formatida yuklab olish.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O‘QUV TO‘LOVLARI</a:t>
            </a:r>
          </a:p>
          <a:p>
            <a:pPr>
              <a:spcAft>
                <a:spcPts val="800"/>
              </a:spcAft>
              <a:defRPr sz="1400" b="1">
                <a:solidFill>
                  <a:srgbClr val="123D78"/>
                </a:solidFill>
              </a:defRPr>
            </a:pPr>
            <a:r>
              <a:t>Talabalar To‘lovlari (Tuition)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O‘quvchilarning to‘lov holati doimiy nazoratda: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   🟢 To‘langan (Paid)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   🟡 Qisman to‘langan (Partial)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   🔴 Qarzdor (Unpaid)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Qabul qilingan to‘lovlarni kassa orqali qayd etish (Naqd, Karta, O‘tkazma).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Qarzdor talabalar bo‘yicha tezkor ogohlantirishlar.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Oylik tushumlar va umumiy aylanma dinamikasi grafiklarda aks etadi.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EDUCO LMS Bilan Samarali Ishlash Bo‘yicha 5 Qoida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62895" cy="777240"/>
          </a:xfrm>
          <a:prstGeom prst="roundRect">
            <a:avLst/>
          </a:prstGeom>
          <a:solidFill>
            <a:srgbClr val="123D7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FECACA"/>
                </a:solidFill>
              </a:defRPr>
            </a:pPr>
            <a:r>
              <a:t>1. Avval Kurs va O‘qituvchini Ochish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Yangi guruh yaratishdan oldin kurs yo‘nalishini va unga javobgar o‘qituvchini tizimga kiritib oling.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697480"/>
            <a:ext cx="10362895" cy="777240"/>
          </a:xfrm>
          <a:prstGeom prst="roundRect">
            <a:avLst/>
          </a:prstGeom>
          <a:solidFill>
            <a:srgbClr val="123D7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FECACA"/>
                </a:solidFill>
              </a:defRPr>
            </a:pPr>
            <a:r>
              <a:t>2. Har Darsda Davomatni Kiritish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Davomatni dars kuni kechiktirmasdan kiriting. Bu maosh va qarzdorliklar hisobotiga to‘g‘ridan-to‘g‘ri ta'sir qiladi.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566160"/>
            <a:ext cx="10362895" cy="777240"/>
          </a:xfrm>
          <a:prstGeom prst="roundRect">
            <a:avLst/>
          </a:prstGeom>
          <a:solidFill>
            <a:srgbClr val="123D7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FECACA"/>
                </a:solidFill>
              </a:defRPr>
            </a:pPr>
            <a:r>
              <a:t>3. Parollarni Xavfsiz Yetkazish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'Parollar' bo‘limidan foydalanib, yangi ochilgan o‘quvchilarga login va parolni qulay usulda yetkazing.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434840"/>
            <a:ext cx="10362895" cy="777240"/>
          </a:xfrm>
          <a:prstGeom prst="roundRect">
            <a:avLst/>
          </a:prstGeom>
          <a:solidFill>
            <a:srgbClr val="123D7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FECACA"/>
                </a:solidFill>
              </a:defRPr>
            </a:pPr>
            <a:r>
              <a:t>4. Telefonda Qulay Foydalanish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Mobil brauzerda tizim to‘liq moslashgan, gorizontal skroll bo‘lmasligi uchun barcha elementlar tartibga solingan.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303520"/>
            <a:ext cx="10362895" cy="777240"/>
          </a:xfrm>
          <a:prstGeom prst="roundRect">
            <a:avLst/>
          </a:prstGeom>
          <a:solidFill>
            <a:srgbClr val="123D7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FECACA"/>
                </a:solidFill>
              </a:defRPr>
            </a:pPr>
            <a:r>
              <a:t>5. Oylik Yakunida Hisobotlarni Yopish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Har oyning so‘nggi kunida davomat va oylik davrlarini tekshirib, yakuniy hisobotlarni tasdiqlang.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